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3588" cy="6858000"/>
  <p:notesSz cx="6858000" cy="1219358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6858000" cy="12193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Rectangle 6"/>
          <p:cNvSpPr/>
          <p:nvPr/>
        </p:nvSpPr>
        <p:spPr>
          <a:xfrm>
            <a:off x="0" y="0"/>
            <a:ext cx="6858000" cy="12193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6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6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5200" cy="41148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-360" y="11582280"/>
            <a:ext cx="2971800" cy="6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3884400" y="11582280"/>
            <a:ext cx="2971800" cy="6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4158FD-F2B9-44BA-9DB7-759D586E3AF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F44AB3-CBB2-4A1A-BCA0-4E894781EC96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458500-24EC-4A0F-BBB9-4BD29A3346A7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9D1418-4F54-4303-AD9C-9537732A70F4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C235FD-4C63-4467-B7B1-02212FDEA8A2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7965C9-21C7-4D98-9C91-D32E32C75FAB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1F4E50-8FC3-40BA-8865-6E1F88B6CDA6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B2B2DA-2EAA-4654-A1F1-5DB9C7D0C741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1839F5-3DFF-4392-86B2-FEF777B31950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0A2EA9-AE72-4D83-93FE-58B3D999E064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9CD167-F531-4441-B35E-97788923A738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562A13-027A-4798-A92E-92FD903C48C0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8F6F46-B097-4E90-9D21-AE75C77DE42E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900791-5082-4430-8868-FA8D6F8BCB7C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-360" y="0"/>
            <a:ext cx="360" cy="32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F34CB5-9BA5-4421-AF92-C71939EB7401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tanishsharma73/KLH-FED-2026-SESSION13-BATCH-13" TargetMode="Externa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0" y="639720"/>
            <a:ext cx="121618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cadcfc"/>
                </a:solidFill>
                <a:latin typeface="Calibri"/>
                <a:ea typeface="Calibri"/>
              </a:rPr>
              <a:t>KL UNIVERSITY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251240" y="1235160"/>
            <a:ext cx="3657600" cy="0"/>
          </a:xfrm>
          <a:prstGeom prst="line">
            <a:avLst/>
          </a:prstGeom>
          <a:ln w="1908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14400" y="1965240"/>
            <a:ext cx="10333080" cy="21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Design and Simulation of a Digital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Access Verification System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Using XOR / XNOR Logic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75280" y="4343400"/>
            <a:ext cx="2011320" cy="503280"/>
          </a:xfrm>
          <a:prstGeom prst="roundRect">
            <a:avLst>
              <a:gd name="adj" fmla="val 50907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075280" y="4343400"/>
            <a:ext cx="20113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BATCH 13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5989680"/>
            <a:ext cx="11247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Presented by: Tanish (2620080073)  •  Vrithika (2620080089)  •  Sujeet (2620090014)  •  Prakash (2620080060)  •  Meghana (2620080049)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6354720"/>
            <a:ext cx="112474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100" spc="-1" strike="noStrike">
                <a:solidFill>
                  <a:srgbClr val="8fa6d9"/>
                </a:solidFill>
                <a:latin typeface="Calibri"/>
                <a:ea typeface="Calibri"/>
              </a:rPr>
              <a:t>Module 1 — Digital Logic Fundamentals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Agenda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549360" y="141768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712800" y="158112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12800" y="158112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371600" y="141768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Introduction to Access Verification Systems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6264360" y="141768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6427800" y="158112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427800" y="158112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7086600" y="141768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Module 1 Recap — Basic Logic Gates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549360" y="2468520"/>
            <a:ext cx="5348160" cy="8240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712800" y="263376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712800" y="263376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1371600" y="2468520"/>
            <a:ext cx="434340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XOR Gate — Working &amp; Truth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6264360" y="2468520"/>
            <a:ext cx="5348160" cy="8240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427800" y="263376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6427800" y="263376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7086600" y="2468520"/>
            <a:ext cx="434340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XNOR Gate — Working &amp; Truth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549360" y="352116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712800" y="368460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712800" y="368460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1371600" y="352116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Bit-Comparator Concept for Access Checking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6264360" y="352116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2"/>
          <p:cNvSpPr/>
          <p:nvPr/>
        </p:nvSpPr>
        <p:spPr>
          <a:xfrm>
            <a:off x="6427800" y="3684600"/>
            <a:ext cx="503280" cy="503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6427800" y="368460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7086600" y="352116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System Block Diagram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5"/>
          <p:cNvSpPr/>
          <p:nvPr/>
        </p:nvSpPr>
        <p:spPr>
          <a:xfrm>
            <a:off x="549360" y="457200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6"/>
          <p:cNvSpPr/>
          <p:nvPr/>
        </p:nvSpPr>
        <p:spPr>
          <a:xfrm>
            <a:off x="712800" y="4737240"/>
            <a:ext cx="503280" cy="501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7"/>
          <p:cNvSpPr/>
          <p:nvPr/>
        </p:nvSpPr>
        <p:spPr>
          <a:xfrm>
            <a:off x="712800" y="4737240"/>
            <a:ext cx="5032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1371600" y="457200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Circuit Diagram (Simulated in Logisim)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9"/>
          <p:cNvSpPr/>
          <p:nvPr/>
        </p:nvSpPr>
        <p:spPr>
          <a:xfrm>
            <a:off x="6264360" y="4572000"/>
            <a:ext cx="5348160" cy="8222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6427800" y="4737240"/>
            <a:ext cx="503280" cy="501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1"/>
          <p:cNvSpPr/>
          <p:nvPr/>
        </p:nvSpPr>
        <p:spPr>
          <a:xfrm>
            <a:off x="6427800" y="4737240"/>
            <a:ext cx="5032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2"/>
          <p:cNvSpPr/>
          <p:nvPr/>
        </p:nvSpPr>
        <p:spPr>
          <a:xfrm>
            <a:off x="7086600" y="4572000"/>
            <a:ext cx="4343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Applications, Advantages &amp; Conclusion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3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4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What is a Digital Access Verification System?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549360" y="1417680"/>
            <a:ext cx="11063160" cy="1417680"/>
          </a:xfrm>
          <a:prstGeom prst="roundRect">
            <a:avLst>
              <a:gd name="adj" fmla="val 5162"/>
            </a:avLst>
          </a:prstGeom>
          <a:solidFill>
            <a:srgbClr val="f4f7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868320" y="1554120"/>
            <a:ext cx="104252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2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A circuit that checks whether an ENTERED CODE matches a STORED (authorized) CODE, and grants or denies access based on the result — the same logic used in keypad locks, ID card readers and PIN checks.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549360" y="3200400"/>
            <a:ext cx="3565440" cy="1920960"/>
          </a:xfrm>
          <a:prstGeom prst="roundRect">
            <a:avLst>
              <a:gd name="adj" fmla="val 4764"/>
            </a:avLst>
          </a:prstGeom>
          <a:solidFill>
            <a:srgbClr val="ffffff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1782720" y="2879640"/>
            <a:ext cx="1096920" cy="503280"/>
          </a:xfrm>
          <a:prstGeom prst="roundRect">
            <a:avLst>
              <a:gd name="adj" fmla="val 5090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782720" y="2879640"/>
            <a:ext cx="109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731880" y="3521160"/>
            <a:ext cx="320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mbria"/>
                <a:ea typeface="Cambria"/>
              </a:rPr>
              <a:t>Input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777960" y="3978360"/>
            <a:ext cx="3108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5a6472"/>
                </a:solidFill>
                <a:latin typeface="Calibri"/>
                <a:ea typeface="Calibri"/>
              </a:rPr>
              <a:t>User enters a binary code (e.g. 4-bit password)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4479840" y="3200400"/>
            <a:ext cx="3567240" cy="1920960"/>
          </a:xfrm>
          <a:prstGeom prst="roundRect">
            <a:avLst>
              <a:gd name="adj" fmla="val 4764"/>
            </a:avLst>
          </a:prstGeom>
          <a:solidFill>
            <a:srgbClr val="ffffff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5715000" y="2879640"/>
            <a:ext cx="1096920" cy="503280"/>
          </a:xfrm>
          <a:prstGeom prst="roundRect">
            <a:avLst>
              <a:gd name="adj" fmla="val 5090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5715000" y="2879640"/>
            <a:ext cx="109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4664160" y="3521160"/>
            <a:ext cx="320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mbria"/>
                <a:ea typeface="Cambria"/>
              </a:rPr>
              <a:t>Compare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4708440" y="3978360"/>
            <a:ext cx="3110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5a6472"/>
                </a:solidFill>
                <a:latin typeface="Calibri"/>
                <a:ea typeface="Calibri"/>
              </a:rPr>
              <a:t>XOR/XNOR gates compare each bit with the stored code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8412120" y="3200400"/>
            <a:ext cx="3567240" cy="1920960"/>
          </a:xfrm>
          <a:prstGeom prst="roundRect">
            <a:avLst>
              <a:gd name="adj" fmla="val 4764"/>
            </a:avLst>
          </a:prstGeom>
          <a:solidFill>
            <a:srgbClr val="ffffff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9647280" y="2879640"/>
            <a:ext cx="1096920" cy="503280"/>
          </a:xfrm>
          <a:prstGeom prst="roundRect">
            <a:avLst>
              <a:gd name="adj" fmla="val 5090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9647280" y="2879640"/>
            <a:ext cx="109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8594640" y="3521160"/>
            <a:ext cx="320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mbria"/>
                <a:ea typeface="Cambria"/>
              </a:rPr>
              <a:t>Decide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8640720" y="3978360"/>
            <a:ext cx="3110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5a6472"/>
                </a:solidFill>
                <a:latin typeface="Calibri"/>
                <a:ea typeface="Calibri"/>
              </a:rPr>
              <a:t>AND gate combines results → output tells match / no match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Module 1 Recap — Basic Logic Gates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49360" y="1736640"/>
            <a:ext cx="2028600" cy="3110040"/>
          </a:xfrm>
          <a:prstGeom prst="roundRect">
            <a:avLst>
              <a:gd name="adj" fmla="val 10667"/>
            </a:avLst>
          </a:prstGeom>
          <a:solidFill>
            <a:srgbClr val="f4f7fd"/>
          </a:solidFill>
          <a:ln w="1584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49360" y="1965240"/>
            <a:ext cx="202860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Cambria"/>
                <a:ea typeface="Cambria"/>
              </a:rPr>
              <a:t>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49360" y="2606760"/>
            <a:ext cx="202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5a6472"/>
                </a:solidFill>
                <a:latin typeface="Calibri"/>
                <a:ea typeface="Calibri"/>
              </a:rPr>
              <a:t>Y = A .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685800" y="3154320"/>
            <a:ext cx="175572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1e2761"/>
                </a:solidFill>
                <a:latin typeface="Calibri"/>
                <a:ea typeface="Calibri"/>
              </a:rPr>
              <a:t>Output is 1 only if all inputs are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2806560" y="1736640"/>
            <a:ext cx="2030400" cy="3110040"/>
          </a:xfrm>
          <a:prstGeom prst="roundRect">
            <a:avLst>
              <a:gd name="adj" fmla="val 10667"/>
            </a:avLst>
          </a:prstGeom>
          <a:solidFill>
            <a:srgbClr val="f4f7fd"/>
          </a:solidFill>
          <a:ln w="1584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2806560" y="1965240"/>
            <a:ext cx="203040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Cambria"/>
                <a:ea typeface="Cambria"/>
              </a:rPr>
              <a:t>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2806560" y="2606760"/>
            <a:ext cx="203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5a6472"/>
                </a:solidFill>
                <a:latin typeface="Calibri"/>
                <a:ea typeface="Calibri"/>
              </a:rPr>
              <a:t>Y = A +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2944800" y="3154320"/>
            <a:ext cx="175572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1e2761"/>
                </a:solidFill>
                <a:latin typeface="Calibri"/>
                <a:ea typeface="Calibri"/>
              </a:rPr>
              <a:t>Output is 1 if any input is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5065560" y="1736640"/>
            <a:ext cx="2030400" cy="3110040"/>
          </a:xfrm>
          <a:prstGeom prst="roundRect">
            <a:avLst>
              <a:gd name="adj" fmla="val 10667"/>
            </a:avLst>
          </a:prstGeom>
          <a:solidFill>
            <a:srgbClr val="f4f7fd"/>
          </a:solidFill>
          <a:ln w="1584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065560" y="1965240"/>
            <a:ext cx="203040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Cambria"/>
                <a:ea typeface="Cambria"/>
              </a:rPr>
              <a:t>NOT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5065560" y="2606760"/>
            <a:ext cx="203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5a6472"/>
                </a:solidFill>
                <a:latin typeface="Calibri"/>
                <a:ea typeface="Calibri"/>
              </a:rPr>
              <a:t>Y = A̅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5202360" y="3154320"/>
            <a:ext cx="175572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1e2761"/>
                </a:solidFill>
                <a:latin typeface="Calibri"/>
                <a:ea typeface="Calibri"/>
              </a:rPr>
              <a:t>Output is the inverse of the input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324560" y="1736640"/>
            <a:ext cx="2028960" cy="311004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324560" y="1965240"/>
            <a:ext cx="20289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XOR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7324560" y="2606760"/>
            <a:ext cx="2028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Y = A ⊕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7461360" y="3154320"/>
            <a:ext cx="175572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Output is 1 only if inputs are DIFFERENT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7"/>
          <p:cNvSpPr/>
          <p:nvPr/>
        </p:nvSpPr>
        <p:spPr>
          <a:xfrm>
            <a:off x="9582120" y="1736640"/>
            <a:ext cx="2030400" cy="311004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9582120" y="1965240"/>
            <a:ext cx="203040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XNOR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9582120" y="2606760"/>
            <a:ext cx="203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Y = (A ⊕ B)̅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9720360" y="3154320"/>
            <a:ext cx="1755720" cy="15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Output is 1 only if inputs are SAME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549360" y="5075280"/>
            <a:ext cx="110631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This project focuses on XOR and XNOR — the two gates used to build the bit comparator.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XOR Gate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0" descr="/home/claude/imgs/xor.png"/>
          <p:cNvPicPr/>
          <p:nvPr/>
        </p:nvPicPr>
        <p:blipFill>
          <a:blip r:embed="rId1"/>
          <a:stretch/>
        </p:blipFill>
        <p:spPr>
          <a:xfrm>
            <a:off x="457200" y="1600200"/>
            <a:ext cx="5394240" cy="449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6" name=""/>
          <p:cNvGraphicFramePr/>
          <p:nvPr/>
        </p:nvGraphicFramePr>
        <p:xfrm>
          <a:off x="6950160" y="1554120"/>
          <a:ext cx="2743200" cy="201132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4032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0176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32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176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Text 1"/>
          <p:cNvSpPr/>
          <p:nvPr/>
        </p:nvSpPr>
        <p:spPr>
          <a:xfrm>
            <a:off x="6308640" y="3749760"/>
            <a:ext cx="53038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Boolean Expression:  Y = A ⊕ 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6308640" y="4343400"/>
            <a:ext cx="5303880" cy="1417680"/>
          </a:xfrm>
          <a:prstGeom prst="roundRect">
            <a:avLst>
              <a:gd name="adj" fmla="val 5162"/>
            </a:avLst>
          </a:prstGeom>
          <a:solidFill>
            <a:srgbClr val="f4f7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537240" y="4479840"/>
            <a:ext cx="48466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In access verification, XOR flags a MISMATCH: if the entered bit and the stored bit are different, XOR outputs 1 (error / no match) for that bit position.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XNOR Gate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Image 0" descr="/home/claude/imgs/xnor.png"/>
          <p:cNvPicPr/>
          <p:nvPr/>
        </p:nvPicPr>
        <p:blipFill>
          <a:blip r:embed="rId1"/>
          <a:stretch/>
        </p:blipFill>
        <p:spPr>
          <a:xfrm>
            <a:off x="457200" y="1600200"/>
            <a:ext cx="5394240" cy="449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4" name=""/>
          <p:cNvGraphicFramePr/>
          <p:nvPr/>
        </p:nvGraphicFramePr>
        <p:xfrm>
          <a:off x="6950160" y="1554120"/>
          <a:ext cx="2743200" cy="201132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4032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0176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32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176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Text 1"/>
          <p:cNvSpPr/>
          <p:nvPr/>
        </p:nvSpPr>
        <p:spPr>
          <a:xfrm>
            <a:off x="6308640" y="3749760"/>
            <a:ext cx="53038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Boolean Expression:  Y = (A ⊕ B)̅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6308640" y="4343400"/>
            <a:ext cx="5303880" cy="1417680"/>
          </a:xfrm>
          <a:prstGeom prst="roundRect">
            <a:avLst>
              <a:gd name="adj" fmla="val 5162"/>
            </a:avLst>
          </a:prstGeom>
          <a:solidFill>
            <a:srgbClr val="f4f7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6537240" y="4479840"/>
            <a:ext cx="48466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XNOR flags a MATCH: if the entered bit and the stored bit are the SAME, XNOR outputs 1. This is why XNOR is the natural choice for a bit comparator.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Bit-Comparator Concept for Access Checking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9360" y="1325520"/>
            <a:ext cx="1106316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Each bit of the entered code is compared with the corresponding bit of the stored code using an XNOR gate.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822240" y="2103480"/>
            <a:ext cx="32925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960480" y="210348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Entered Code (A)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4297320" y="2103480"/>
            <a:ext cx="2011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4297320" y="2103480"/>
            <a:ext cx="20113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ourier New"/>
                <a:ea typeface="Courier New"/>
              </a:rPr>
              <a:t>1 0 1 1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822240" y="2971800"/>
            <a:ext cx="329256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960480" y="297180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Stored Code (B)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297320" y="2971800"/>
            <a:ext cx="2011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4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4297320" y="2971800"/>
            <a:ext cx="20113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ourier New"/>
                <a:ea typeface="Courier New"/>
              </a:rPr>
              <a:t>1 0 1 1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6583320" y="2422440"/>
            <a:ext cx="1463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5a6472"/>
                </a:solidFill>
                <a:latin typeface="Calibri"/>
                <a:ea typeface="Calibri"/>
              </a:rPr>
              <a:t>XNOR each bit 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8229600" y="2103480"/>
            <a:ext cx="3108240" cy="1554120"/>
          </a:xfrm>
          <a:prstGeom prst="roundRect">
            <a:avLst>
              <a:gd name="adj" fmla="val 4704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8412120" y="2239920"/>
            <a:ext cx="274320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ourier New"/>
                <a:ea typeface="Courier New"/>
              </a:rPr>
              <a:t>XNOR Result: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ourier New"/>
                <a:ea typeface="Courier New"/>
              </a:rPr>
              <a:t>1   1   1   1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822240" y="4297320"/>
            <a:ext cx="10515600" cy="1554120"/>
          </a:xfrm>
          <a:prstGeom prst="roundRect">
            <a:avLst>
              <a:gd name="adj" fmla="val 588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1189080" y="4297320"/>
            <a:ext cx="9783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AND all XNOR outputs together →  if the result = 1, EVERY bit matched → ACCESS GRANTED.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If even ONE bit differs, the AND output = 0 → ACCESS DENIED.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System Block Diagram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754200" y="2651040"/>
            <a:ext cx="1874880" cy="13716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 w="1260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826920" y="2651040"/>
            <a:ext cx="172908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Keypad / Switches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(Entered Code)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2629080" y="3336840"/>
            <a:ext cx="320400" cy="0"/>
          </a:xfrm>
          <a:prstGeom prst="line">
            <a:avLst/>
          </a:prstGeom>
          <a:ln w="25560">
            <a:solidFill>
              <a:srgbClr val="1e2761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2949480" y="2651040"/>
            <a:ext cx="1873440" cy="13716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 w="1260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3022560" y="2651040"/>
            <a:ext cx="172728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Stored Code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(Reference Register)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4822920" y="3336840"/>
            <a:ext cx="320760" cy="0"/>
          </a:xfrm>
          <a:prstGeom prst="line">
            <a:avLst/>
          </a:prstGeom>
          <a:ln w="25560">
            <a:solidFill>
              <a:srgbClr val="1e2761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5143680" y="2651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 w="1260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216400" y="2651040"/>
            <a:ext cx="172908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XNOR Comparator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(bit-by-bit)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7018200" y="3336840"/>
            <a:ext cx="319320" cy="0"/>
          </a:xfrm>
          <a:prstGeom prst="line">
            <a:avLst/>
          </a:prstGeom>
          <a:ln w="25560">
            <a:solidFill>
              <a:srgbClr val="1e2761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7337520" y="2651040"/>
            <a:ext cx="1874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60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7410600" y="2651040"/>
            <a:ext cx="172872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AND Gate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(final decision)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9212400" y="3336840"/>
            <a:ext cx="320400" cy="0"/>
          </a:xfrm>
          <a:prstGeom prst="line">
            <a:avLst/>
          </a:prstGeom>
          <a:ln w="25560">
            <a:solidFill>
              <a:srgbClr val="1e2761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9532800" y="2651040"/>
            <a:ext cx="1874880" cy="1371600"/>
          </a:xfrm>
          <a:prstGeom prst="roundRect">
            <a:avLst>
              <a:gd name="adj" fmla="val 6667"/>
            </a:avLst>
          </a:prstGeom>
          <a:solidFill>
            <a:srgbClr val="2e7d32"/>
          </a:solidFill>
          <a:ln w="12600">
            <a:solidFill>
              <a:srgbClr val="1e27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9605880" y="2651040"/>
            <a:ext cx="172872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LED / Buzzer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822240" y="4664160"/>
            <a:ext cx="10515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5a6472"/>
                </a:solidFill>
                <a:latin typeface="Calibri"/>
                <a:ea typeface="Calibri"/>
              </a:rPr>
              <a:t>Two independent inputs (entered code and stored code) are compared bit-wise; the combined result drives a visible/audible output.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Circuit Diagram — Simulated in Logisim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0" descr="/home/claude/imgs/circuit.png"/>
          <p:cNvPicPr/>
          <p:nvPr/>
        </p:nvPicPr>
        <p:blipFill>
          <a:blip r:embed="rId1"/>
          <a:stretch/>
        </p:blipFill>
        <p:spPr>
          <a:xfrm>
            <a:off x="457200" y="1235160"/>
            <a:ext cx="11247480" cy="4890960"/>
          </a:xfrm>
          <a:prstGeom prst="rect">
            <a:avLst/>
          </a:prstGeom>
          <a:ln w="0">
            <a:noFill/>
          </a:ln>
        </p:spPr>
      </p:pic>
      <p:sp>
        <p:nvSpPr>
          <p:cNvPr id="147" name="Text 1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Worked Example — 4-bit Code Check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49360" y="1371600"/>
            <a:ext cx="534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Case 1: Correct Code Entered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1" name=""/>
          <p:cNvGraphicFramePr/>
          <p:nvPr/>
        </p:nvGraphicFramePr>
        <p:xfrm>
          <a:off x="549360" y="1828800"/>
          <a:ext cx="5348160" cy="1828800"/>
        </p:xfrm>
        <a:graphic>
          <a:graphicData uri="http://schemas.openxmlformats.org/drawingml/2006/table">
            <a:tbl>
              <a:tblPr/>
              <a:tblGrid>
                <a:gridCol w="1336680"/>
                <a:gridCol w="1336680"/>
                <a:gridCol w="1338120"/>
                <a:gridCol w="1336680"/>
              </a:tblGrid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 (Entered)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 (Stored)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XNOR Output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668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68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2" name="Shape 2"/>
          <p:cNvSpPr/>
          <p:nvPr/>
        </p:nvSpPr>
        <p:spPr>
          <a:xfrm>
            <a:off x="549360" y="3794040"/>
            <a:ext cx="5348160" cy="68580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9360" y="3794040"/>
            <a:ext cx="5348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AND = 1 → ACCESS GRANTED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6264360" y="1371600"/>
            <a:ext cx="534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Case 2: Wrong Code Entered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"/>
          <p:cNvGraphicFramePr/>
          <p:nvPr/>
        </p:nvGraphicFramePr>
        <p:xfrm>
          <a:off x="6264360" y="1828800"/>
          <a:ext cx="5348160" cy="1828800"/>
        </p:xfrm>
        <a:graphic>
          <a:graphicData uri="http://schemas.openxmlformats.org/drawingml/2006/table">
            <a:tbl>
              <a:tblPr/>
              <a:tblGrid>
                <a:gridCol w="1336680"/>
                <a:gridCol w="1336680"/>
                <a:gridCol w="1338120"/>
                <a:gridCol w="1336680"/>
              </a:tblGrid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Bit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 (Entered)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 (Stored)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XNOR Output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668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68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440">
                      <a:solidFill>
                        <a:srgbClr val="cadcfc"/>
                      </a:solidFill>
                      <a:prstDash val="solid"/>
                    </a:lnL>
                    <a:lnR w="1440">
                      <a:solidFill>
                        <a:srgbClr val="cadcfc"/>
                      </a:solidFill>
                      <a:prstDash val="solid"/>
                    </a:lnR>
                    <a:lnT w="1440">
                      <a:solidFill>
                        <a:srgbClr val="cadcfc"/>
                      </a:solidFill>
                      <a:prstDash val="solid"/>
                    </a:lnT>
                    <a:lnB w="14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Shape 5"/>
          <p:cNvSpPr/>
          <p:nvPr/>
        </p:nvSpPr>
        <p:spPr>
          <a:xfrm>
            <a:off x="6264360" y="3794040"/>
            <a:ext cx="5348160" cy="68580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6264360" y="3794040"/>
            <a:ext cx="534816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AND = 0 → ACCESS DENIED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"/>
          <p:cNvPicPr/>
          <p:nvPr/>
        </p:nvPicPr>
        <p:blipFill>
          <a:blip r:embed="rId1"/>
          <a:stretch/>
        </p:blipFill>
        <p:spPr>
          <a:xfrm>
            <a:off x="42840" y="738360"/>
            <a:ext cx="12107880" cy="5381280"/>
          </a:xfrm>
          <a:prstGeom prst="rect">
            <a:avLst/>
          </a:prstGeom>
          <a:ln w="0">
            <a:noFill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549360" y="1463760"/>
            <a:ext cx="5348160" cy="10047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777960" y="173664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77960" y="173664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1417680" y="1463760"/>
            <a:ext cx="4251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Digital door locks &amp; keypad entry systems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6264360" y="1463760"/>
            <a:ext cx="5348160" cy="10047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6492960" y="173664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6492960" y="173664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7132680" y="1463760"/>
            <a:ext cx="4251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ATM PIN and card verification circuits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549360" y="2697120"/>
            <a:ext cx="5348160" cy="10065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777960" y="297180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777960" y="297180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1417680" y="2697120"/>
            <a:ext cx="425124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Password-protected embedded devices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6264360" y="2697120"/>
            <a:ext cx="5348160" cy="10065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6492960" y="297180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6492960" y="297180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7132680" y="2697120"/>
            <a:ext cx="425124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Employee ID / RFID access control panels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7"/>
          <p:cNvSpPr/>
          <p:nvPr/>
        </p:nvSpPr>
        <p:spPr>
          <a:xfrm>
            <a:off x="549360" y="3932280"/>
            <a:ext cx="5348160" cy="10047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777960" y="420696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777960" y="420696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1417680" y="3932280"/>
            <a:ext cx="4251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Vehicle immobilizer / anti-theft systems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1"/>
          <p:cNvSpPr/>
          <p:nvPr/>
        </p:nvSpPr>
        <p:spPr>
          <a:xfrm>
            <a:off x="6264360" y="3932280"/>
            <a:ext cx="5348160" cy="100476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2"/>
          <p:cNvSpPr/>
          <p:nvPr/>
        </p:nvSpPr>
        <p:spPr>
          <a:xfrm>
            <a:off x="6492960" y="4206960"/>
            <a:ext cx="457200" cy="457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6492960" y="420696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132680" y="3932280"/>
            <a:ext cx="4251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Secure locker and safe-box mechanisms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Advantages &amp; Limitations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549360" y="1463760"/>
            <a:ext cx="5394240" cy="4297320"/>
          </a:xfrm>
          <a:prstGeom prst="roundRect">
            <a:avLst>
              <a:gd name="adj" fmla="val 2130"/>
            </a:avLst>
          </a:prstGeom>
          <a:solidFill>
            <a:srgbClr val="f4f7fd"/>
          </a:solidFill>
          <a:ln w="19080">
            <a:solidFill>
              <a:srgbClr val="2e7d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822240" y="1646280"/>
            <a:ext cx="484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2e7d32"/>
                </a:solidFill>
                <a:latin typeface="Cambria"/>
                <a:ea typeface="Cambria"/>
              </a:rPr>
              <a:t>Advantages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868320" y="2193840"/>
            <a:ext cx="4754520" cy="33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Simple, low gate-count design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Fast comparison — works in real 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Easy to scale to more bits (8, 16...)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Low power and low cost to build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Easy to simulate and test in Logisim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6218280" y="1463760"/>
            <a:ext cx="5394240" cy="4297320"/>
          </a:xfrm>
          <a:prstGeom prst="roundRect">
            <a:avLst>
              <a:gd name="adj" fmla="val 2130"/>
            </a:avLst>
          </a:prstGeom>
          <a:solidFill>
            <a:srgbClr val="f4f7fd"/>
          </a:solidFill>
          <a:ln w="19080">
            <a:solidFill>
              <a:srgbClr val="c628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6492960" y="1646280"/>
            <a:ext cx="48448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c62828"/>
                </a:solidFill>
                <a:latin typeface="Cambria"/>
                <a:ea typeface="Cambria"/>
              </a:rPr>
              <a:t>Limitations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6537240" y="2193840"/>
            <a:ext cx="4756320" cy="33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Fixed code is hardwired / not easily changed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No encryption — code is compared in plain bits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Vulnerable to physical tampering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761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Limited to simple match / no-match logic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5a6472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49360" y="365040"/>
            <a:ext cx="11063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Conclusion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593640" y="1143000"/>
            <a:ext cx="2013120" cy="0"/>
          </a:xfrm>
          <a:prstGeom prst="line">
            <a:avLst/>
          </a:prstGeom>
          <a:ln w="2556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639720" y="1554120"/>
            <a:ext cx="503280" cy="5032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639720" y="155412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1371600" y="1508040"/>
            <a:ext cx="1015056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XOR and XNOR gates provide a simple and reliable way to compare digital codes bit by bit.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639720" y="2560680"/>
            <a:ext cx="503280" cy="5032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639720" y="256068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1371600" y="2514600"/>
            <a:ext cx="1015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XNOR's “match = 1” behaviour makes it ideal for building an access/password comparator.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8"/>
          <p:cNvSpPr/>
          <p:nvPr/>
        </p:nvSpPr>
        <p:spPr>
          <a:xfrm>
            <a:off x="639720" y="3565440"/>
            <a:ext cx="503280" cy="5032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639720" y="356544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1371600" y="3521160"/>
            <a:ext cx="1015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Combining XNOR outputs with a single AND gate gives one clean Grant / Deny signal.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39720" y="4572000"/>
            <a:ext cx="503280" cy="5032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639720" y="457200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1371600" y="4525920"/>
            <a:ext cx="1015056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1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The design was verified using truth tables and simulated successfully in Logisim.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457200" y="6473880"/>
            <a:ext cx="5486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Batch 13  |  KL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11247480" y="6473880"/>
            <a:ext cx="457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0" y="503280"/>
            <a:ext cx="12161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KL UNIVERSITY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0" y="1006560"/>
            <a:ext cx="12161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Presented By — Batch 13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365040" y="2378160"/>
            <a:ext cx="2176560" cy="2468520"/>
          </a:xfrm>
          <a:custGeom>
            <a:avLst/>
            <a:gdLst>
              <a:gd name="textAreaLeft" fmla="*/ 28080 w 2176560"/>
              <a:gd name="textAreaRight" fmla="*/ 2148480 w 2176560"/>
              <a:gd name="textAreaTop" fmla="*/ 28080 h 2468520"/>
              <a:gd name="textAreaBottom" fmla="*/ 2440440 h 2468520"/>
            </a:gdLst>
            <a:ahLst/>
            <a:rect l="textAreaLeft" t="textAreaTop" r="textAreaRight" b="textAreaBottom"/>
            <a:pathLst>
              <a:path w="21600" h="24497">
                <a:moveTo>
                  <a:pt x="960" y="0"/>
                </a:moveTo>
                <a:arcTo wR="960" hR="960" stAng="16200000" swAng="-5400000"/>
                <a:lnTo>
                  <a:pt x="0" y="23537"/>
                </a:lnTo>
                <a:arcTo wR="960" hR="960" stAng="10800000" swAng="-5400000"/>
                <a:lnTo>
                  <a:pt x="20640" y="24497"/>
                </a:lnTo>
                <a:arcTo wR="960" hR="960" stAng="5400000" swAng="-5400000"/>
                <a:lnTo>
                  <a:pt x="21600" y="960"/>
                </a:lnTo>
                <a:arcTo wR="960" hR="960" stAng="0" swAng="-5400000"/>
                <a:close/>
              </a:path>
            </a:pathLst>
          </a:custGeom>
          <a:solidFill>
            <a:srgbClr val="263384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950760" y="2697120"/>
            <a:ext cx="1006560" cy="10065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950760" y="2697120"/>
            <a:ext cx="100656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380880" y="3978360"/>
            <a:ext cx="214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Tanish</a:t>
            </a:r>
            <a:r>
              <a:rPr b="0" lang="en-US" sz="1200" spc="-1" strike="noStrike">
                <a:solidFill>
                  <a:srgbClr val="cadcfc"/>
                </a:solidFill>
                <a:latin typeface="Courier New"/>
                <a:ea typeface="Courier New"/>
              </a:rPr>
              <a:t>  |  2620080073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2679840" y="2378160"/>
            <a:ext cx="2176200" cy="2468520"/>
          </a:xfrm>
          <a:custGeom>
            <a:avLst/>
            <a:gdLst>
              <a:gd name="textAreaLeft" fmla="*/ 28080 w 2176200"/>
              <a:gd name="textAreaRight" fmla="*/ 2148120 w 2176200"/>
              <a:gd name="textAreaTop" fmla="*/ 28080 h 2468520"/>
              <a:gd name="textAreaBottom" fmla="*/ 2440440 h 2468520"/>
            </a:gdLst>
            <a:ahLst/>
            <a:rect l="textAreaLeft" t="textAreaTop" r="textAreaRight" b="textAreaBottom"/>
            <a:pathLst>
              <a:path w="21600" h="24501">
                <a:moveTo>
                  <a:pt x="960" y="0"/>
                </a:moveTo>
                <a:arcTo wR="960" hR="960" stAng="16200000" swAng="-5400000"/>
                <a:lnTo>
                  <a:pt x="0" y="23541"/>
                </a:lnTo>
                <a:arcTo wR="960" hR="960" stAng="10800000" swAng="-5400000"/>
                <a:lnTo>
                  <a:pt x="20640" y="24501"/>
                </a:lnTo>
                <a:arcTo wR="960" hR="960" stAng="5400000" swAng="-5400000"/>
                <a:lnTo>
                  <a:pt x="21600" y="960"/>
                </a:lnTo>
                <a:arcTo wR="960" hR="960" stAng="0" swAng="-5400000"/>
                <a:close/>
              </a:path>
            </a:pathLst>
          </a:custGeom>
          <a:solidFill>
            <a:srgbClr val="263384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3263760" y="2697120"/>
            <a:ext cx="1006560" cy="10065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3263760" y="2697120"/>
            <a:ext cx="100656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V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2693880" y="3978360"/>
            <a:ext cx="214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Vrithika</a:t>
            </a:r>
            <a:r>
              <a:rPr b="0" lang="en-US" sz="1200" spc="-1" strike="noStrike">
                <a:solidFill>
                  <a:srgbClr val="cadcfc"/>
                </a:solidFill>
                <a:latin typeface="Courier New"/>
                <a:ea typeface="Courier New"/>
              </a:rPr>
              <a:t>  |  2620080089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4992840" y="2378160"/>
            <a:ext cx="2176200" cy="2468520"/>
          </a:xfrm>
          <a:custGeom>
            <a:avLst/>
            <a:gdLst>
              <a:gd name="textAreaLeft" fmla="*/ 28080 w 2176200"/>
              <a:gd name="textAreaRight" fmla="*/ 2148120 w 2176200"/>
              <a:gd name="textAreaTop" fmla="*/ 28080 h 2468520"/>
              <a:gd name="textAreaBottom" fmla="*/ 2440440 h 2468520"/>
            </a:gdLst>
            <a:ahLst/>
            <a:rect l="textAreaLeft" t="textAreaTop" r="textAreaRight" b="textAreaBottom"/>
            <a:pathLst>
              <a:path w="21600" h="24501">
                <a:moveTo>
                  <a:pt x="960" y="0"/>
                </a:moveTo>
                <a:arcTo wR="960" hR="960" stAng="16200000" swAng="-5400000"/>
                <a:lnTo>
                  <a:pt x="0" y="23541"/>
                </a:lnTo>
                <a:arcTo wR="960" hR="960" stAng="10800000" swAng="-5400000"/>
                <a:lnTo>
                  <a:pt x="20640" y="24501"/>
                </a:lnTo>
                <a:arcTo wR="960" hR="960" stAng="5400000" swAng="-5400000"/>
                <a:lnTo>
                  <a:pt x="21600" y="960"/>
                </a:lnTo>
                <a:arcTo wR="960" hR="960" stAng="0" swAng="-5400000"/>
                <a:close/>
              </a:path>
            </a:pathLst>
          </a:custGeom>
          <a:solidFill>
            <a:srgbClr val="263384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5578560" y="2697120"/>
            <a:ext cx="1004760" cy="10065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5578560" y="2697120"/>
            <a:ext cx="100476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5006880" y="3978360"/>
            <a:ext cx="2148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Sujeat</a:t>
            </a:r>
            <a:r>
              <a:rPr b="0" lang="en-US" sz="1200" spc="-1" strike="noStrike">
                <a:solidFill>
                  <a:srgbClr val="cadcfc"/>
                </a:solidFill>
                <a:latin typeface="Courier New"/>
                <a:ea typeface="Courier New"/>
              </a:rPr>
              <a:t>  |  2620090014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7305840" y="2378160"/>
            <a:ext cx="2176200" cy="2468520"/>
          </a:xfrm>
          <a:custGeom>
            <a:avLst/>
            <a:gdLst>
              <a:gd name="textAreaLeft" fmla="*/ 28080 w 2176200"/>
              <a:gd name="textAreaRight" fmla="*/ 2148120 w 2176200"/>
              <a:gd name="textAreaTop" fmla="*/ 28080 h 2468520"/>
              <a:gd name="textAreaBottom" fmla="*/ 2440440 h 2468520"/>
            </a:gdLst>
            <a:ahLst/>
            <a:rect l="textAreaLeft" t="textAreaTop" r="textAreaRight" b="textAreaBottom"/>
            <a:pathLst>
              <a:path w="21600" h="24501">
                <a:moveTo>
                  <a:pt x="960" y="0"/>
                </a:moveTo>
                <a:arcTo wR="960" hR="960" stAng="16200000" swAng="-5400000"/>
                <a:lnTo>
                  <a:pt x="0" y="23541"/>
                </a:lnTo>
                <a:arcTo wR="960" hR="960" stAng="10800000" swAng="-5400000"/>
                <a:lnTo>
                  <a:pt x="20640" y="24501"/>
                </a:lnTo>
                <a:arcTo wR="960" hR="960" stAng="5400000" swAng="-5400000"/>
                <a:lnTo>
                  <a:pt x="21600" y="960"/>
                </a:lnTo>
                <a:arcTo wR="960" hR="960" stAng="0" swAng="-5400000"/>
                <a:close/>
              </a:path>
            </a:pathLst>
          </a:custGeom>
          <a:solidFill>
            <a:srgbClr val="263384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7891560" y="2697120"/>
            <a:ext cx="1006200" cy="10065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7891560" y="2697120"/>
            <a:ext cx="100620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7321680" y="3978360"/>
            <a:ext cx="214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Prakash</a:t>
            </a:r>
            <a:r>
              <a:rPr b="0" lang="en-US" sz="1200" spc="-1" strike="noStrike">
                <a:solidFill>
                  <a:srgbClr val="cadcfc"/>
                </a:solidFill>
                <a:latin typeface="Courier New"/>
                <a:ea typeface="Courier New"/>
              </a:rPr>
              <a:t>  |  2620080060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9620280" y="2378160"/>
            <a:ext cx="2176560" cy="2468520"/>
          </a:xfrm>
          <a:custGeom>
            <a:avLst/>
            <a:gdLst>
              <a:gd name="textAreaLeft" fmla="*/ 28080 w 2176560"/>
              <a:gd name="textAreaRight" fmla="*/ 2148480 w 2176560"/>
              <a:gd name="textAreaTop" fmla="*/ 28080 h 2468520"/>
              <a:gd name="textAreaBottom" fmla="*/ 2440440 h 2468520"/>
            </a:gdLst>
            <a:ahLst/>
            <a:rect l="textAreaLeft" t="textAreaTop" r="textAreaRight" b="textAreaBottom"/>
            <a:pathLst>
              <a:path w="21600" h="24497">
                <a:moveTo>
                  <a:pt x="960" y="0"/>
                </a:moveTo>
                <a:arcTo wR="960" hR="960" stAng="16200000" swAng="-5400000"/>
                <a:lnTo>
                  <a:pt x="0" y="23537"/>
                </a:lnTo>
                <a:arcTo wR="960" hR="960" stAng="10800000" swAng="-5400000"/>
                <a:lnTo>
                  <a:pt x="20640" y="24497"/>
                </a:lnTo>
                <a:arcTo wR="960" hR="960" stAng="5400000" swAng="-5400000"/>
                <a:lnTo>
                  <a:pt x="21600" y="960"/>
                </a:lnTo>
                <a:arcTo wR="960" hR="960" stAng="0" swAng="-5400000"/>
                <a:close/>
              </a:path>
            </a:pathLst>
          </a:custGeom>
          <a:solidFill>
            <a:srgbClr val="263384"/>
          </a:solidFill>
          <a:ln w="12600">
            <a:solidFill>
              <a:srgbClr val="cadcf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10204560" y="2697120"/>
            <a:ext cx="1006200" cy="100656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10204560" y="2697120"/>
            <a:ext cx="100620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9634680" y="3978360"/>
            <a:ext cx="214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Meghana</a:t>
            </a:r>
            <a:r>
              <a:rPr b="0" lang="en-US" sz="1200" spc="-1" strike="noStrike">
                <a:solidFill>
                  <a:srgbClr val="cadcfc"/>
                </a:solidFill>
                <a:latin typeface="Courier New"/>
                <a:ea typeface="Courier New"/>
              </a:rPr>
              <a:t>  |  2620080049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8"/>
          <p:cNvSpPr/>
          <p:nvPr/>
        </p:nvSpPr>
        <p:spPr>
          <a:xfrm>
            <a:off x="457200" y="6126120"/>
            <a:ext cx="112474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pc="-1" strike="noStrike">
                <a:solidFill>
                  <a:srgbClr val="8fa6d9"/>
                </a:solidFill>
                <a:latin typeface="Calibri"/>
                <a:ea typeface="Calibri"/>
              </a:rPr>
              <a:t>Digital Access Verification System Using XOR / XNOR Logic  |  Module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9"/>
          <p:cNvSpPr/>
          <p:nvPr/>
        </p:nvSpPr>
        <p:spPr>
          <a:xfrm>
            <a:off x="0" y="5622840"/>
            <a:ext cx="1216188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cadcfc"/>
                </a:solidFill>
                <a:latin typeface="Cambria"/>
                <a:ea typeface="Cambria"/>
              </a:rPr>
              <a:t>Thank You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457200" y="6492960"/>
            <a:ext cx="11247480" cy="3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 u="sng">
                <a:solidFill>
                  <a:srgbClr val="8fa6d9"/>
                </a:solidFill>
                <a:latin typeface="Calibri"/>
                <a:ea typeface="Calibri"/>
                <a:hlinkClick r:id="rId3"/>
              </a:rPr>
              <a:t>github.com/tanishsharma73/KLH-FED-2026-SESSION13-BATCH-13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cloudconvert_14</cp:lastModifiedBy>
  <dcterms:modified xsi:type="dcterms:W3CDTF">2026-09-10T01:05:13Z</dcterms:modified>
  <cp:revision>1</cp:revision>
  <dc:subject/>
  <dc:title>PowerPoint Presentation</dc:title>
</cp:coreProperties>
</file>